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werkmuenchen.blogspot.com/2026/10/einbaufeuchte-bei-sichtbarem-holz-was.html" TargetMode="External"/><Relationship Id="rId3" Type="http://schemas.openxmlformats.org/officeDocument/2006/relationships/hyperlink" Target="https://holzundhaus.github.io/holzwerkmuenchen/dateien/minimax-74e73077cc559292c3f15be6/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Einbaufeuchte bei sichtbarem Holz: Was im Neubau und nach Sanierungen oft übersehen wird · Erklärende Präsentation</a:t>
            </a:r>
          </a:p>
        </p:txBody>
      </p:sp>
      <p:sp>
        <p:nvSpPr>
          <p:cNvPr id="3" name="Content Placeholder 2"/>
          <p:cNvSpPr>
            <a:spLocks noGrp="1"/>
          </p:cNvSpPr>
          <p:nvPr>
            <p:ph idx="1"/>
          </p:nvPr>
        </p:nvSpPr>
        <p:spPr/>
        <p:txBody>
          <a:bodyPr/>
          <a:lstStyle/>
          <a:p>
            <a:r>
              <a:t>Überblick: Sichtbares Holz verzeiht falsche Feuchte nicht: Balken, Brettschichtholzträger, Holztafeln und gehobelte Wandflächen reagieren auf den eingebauten Wassergehalt und das spätere Raumklima. Der Beitrag „Einbaufeuchte bei sichtbarem Holz“ zeigt, warum bei Neubauten und Sanierungen die Unterscheidung zwischen Konstruktions- und Ausgleichsfeuchte entscheidend ist. Er ergänzt die Planung um eine bauphysikalische Frage, die bei hochwertigen Holzbauteilen vom ersten Angebot an mitgeklärt werden sollte.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Zwei Feuchten mit unterschiedlichen Aufgaben</a:t>
            </a:r>
          </a:p>
        </p:txBody>
      </p:sp>
      <p:sp>
        <p:nvSpPr>
          <p:cNvPr id="3" name="Content Placeholder 2"/>
          <p:cNvSpPr>
            <a:spLocks noGrp="1"/>
          </p:cNvSpPr>
          <p:nvPr>
            <p:ph idx="1"/>
          </p:nvPr>
        </p:nvSpPr>
        <p:spPr/>
        <p:txBody>
          <a:bodyPr/>
          <a:lstStyle/>
          <a:p>
            <a:pPr>
              <a:defRPr sz="1800"/>
            </a:pPr>
            <a:r>
              <a:t>Konstruktionsfeuchte ist die zusätzliche Feuchtigkeit, die beispielsweise durch Verarbeitung, Leim, Transport, kurzfristige Bewitterung oder unzureichende Akklimatisierung in ein Bauteil gelangt. Sie liegt über der späteren Ausgleichsfeuchte und muss nach dem Einbau wieder abgegeben werden. Die Ausgleichsfeuchte beschreibt dagegen den Holzfeuchtegehalt, der sich langfristig an das Nutzungsklima des Raums anpasst. Er hängt von Temperatur und relativer Luftfeuchte ab und liegt in normal beheizten Wohnräumen deutlich niedriger als in unbeheizten Dachräumen oder Kellern. Wer beide Größen in einem Wert vermischt, verliert den Blick auf die Bauzeit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Zwei Feuchten mit unterschiedlichen Aufgaben</a:t>
            </a:r>
          </a:p>
        </p:txBody>
      </p:sp>
      <p:sp>
        <p:nvSpPr>
          <p:cNvPr id="3" name="Content Placeholder 2"/>
          <p:cNvSpPr>
            <a:spLocks noGrp="1"/>
          </p:cNvSpPr>
          <p:nvPr>
            <p:ph idx="1"/>
          </p:nvPr>
        </p:nvSpPr>
        <p:spPr/>
        <p:txBody>
          <a:bodyPr/>
          <a:lstStyle/>
          <a:p>
            <a:pPr>
              <a:defRPr sz="1800"/>
            </a:pPr>
            <a:r>
              <a:t> und die spätere Nutzung.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Bauzeit und Lüftung mitentscheiden</a:t>
            </a:r>
          </a:p>
        </p:txBody>
      </p:sp>
      <p:sp>
        <p:nvSpPr>
          <p:cNvPr id="3" name="Content Placeholder 2"/>
          <p:cNvSpPr>
            <a:spLocks noGrp="1"/>
          </p:cNvSpPr>
          <p:nvPr>
            <p:ph idx="1"/>
          </p:nvPr>
        </p:nvSpPr>
        <p:spPr/>
        <p:txBody>
          <a:bodyPr/>
          <a:lstStyle/>
          <a:p>
            <a:pPr>
              <a:defRPr sz="1800"/>
            </a:pPr>
            <a:r>
              <a:t>Wie schnell ein Bauteil seine Konstruktionsfeuchte abgeben kann, hängt vom Zustand der Baustelle ab. Eine kurze Standzeit vor dem Innenausbau lässt dem Holz wenig Zeit zum Trocknen. Ohne gezielte Querlüftung oder technische Trocknung bleibt Feuchtigkeit in den Räumen stehen und kann von angrenzenden Bauteilen wieder aufgenommen werden. Auch die Reihenfolge der Gewerke ist relevant: Putz- und Estricharbeiten bringen zusätzliche Feuchtigkeit in den Raum. Wird sichtbares Holz bereits vor diesen Arbeiten eingebaut, kann es diese Lastfeuchte aufnehmen und anschließend nur langsam wieder abgeben. Besonders in den ersten Wochen eines Neubaus oder ei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Bauzeit und Lüftung mitentscheiden</a:t>
            </a:r>
          </a:p>
        </p:txBody>
      </p:sp>
      <p:sp>
        <p:nvSpPr>
          <p:cNvPr id="3" name="Content Placeholder 2"/>
          <p:cNvSpPr>
            <a:spLocks noGrp="1"/>
          </p:cNvSpPr>
          <p:nvPr>
            <p:ph idx="1"/>
          </p:nvPr>
        </p:nvSpPr>
        <p:spPr/>
        <p:txBody>
          <a:bodyPr/>
          <a:lstStyle/>
          <a:p>
            <a:pPr>
              <a:defRPr sz="1800"/>
            </a:pPr>
            <a:r>
              <a:t>ner frischen Sanierung ist die Luftfeuchte häufig erhöht.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Mögliche Folgen am sichtbaren Bauteil</a:t>
            </a:r>
          </a:p>
        </p:txBody>
      </p:sp>
      <p:sp>
        <p:nvSpPr>
          <p:cNvPr id="3" name="Content Placeholder 2"/>
          <p:cNvSpPr>
            <a:spLocks noGrp="1"/>
          </p:cNvSpPr>
          <p:nvPr>
            <p:ph idx="1"/>
          </p:nvPr>
        </p:nvSpPr>
        <p:spPr/>
        <p:txBody>
          <a:bodyPr/>
          <a:lstStyle/>
          <a:p>
            <a:pPr>
              <a:defRPr sz="1800"/>
            </a:pPr>
            <a:r>
              <a:t>Bleibt die Feuchtigkeit zu lange im Holz, sind sichtbare Schäden wahrscheinlicher. Dazu gehören Schwinden und Rissbildung an Balken oder Bohlen sowie Verformungen wie Schüsseln, Verdrehen oder Schwinden über die Breite. Feuchte Balkenlagen können Parkett- oder Dielenböden aufstellen lassen. Bei verleimten Bauteilen sind Delamination oder offene Fugen möglich. Bleibt die Oberfläche länger feucht als die Umgebungsluft, kann zudem Schimmel entstehen. Solche Folgen sind nicht nur ein technisches Problem, sondern beeinträchtigen auch die gestalterische Wirkung. Die Trennung von Konstruktions- und Ausgleichsfeuchte hilft zudem bei der späteren Beur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Mögliche Folgen am sichtbaren Bauteil</a:t>
            </a:r>
          </a:p>
        </p:txBody>
      </p:sp>
      <p:sp>
        <p:nvSpPr>
          <p:cNvPr id="3" name="Content Placeholder 2"/>
          <p:cNvSpPr>
            <a:spLocks noGrp="1"/>
          </p:cNvSpPr>
          <p:nvPr>
            <p:ph idx="1"/>
          </p:nvPr>
        </p:nvSpPr>
        <p:spPr/>
        <p:txBody>
          <a:bodyPr/>
          <a:lstStyle/>
          <a:p>
            <a:pPr>
              <a:defRPr sz="1800"/>
            </a:pPr>
            <a:r>
              <a:t>teilung, ob eine Rissbildung noch zur normalen Anpassung an das Raumklima gehört oder auf eine zu hohe Einbaufeuchte hinweist.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vor Bestellung und Einbau geklärt werden sollte</a:t>
            </a:r>
          </a:p>
        </p:txBody>
      </p:sp>
      <p:sp>
        <p:nvSpPr>
          <p:cNvPr id="3" name="Content Placeholder 2"/>
          <p:cNvSpPr>
            <a:spLocks noGrp="1"/>
          </p:cNvSpPr>
          <p:nvPr>
            <p:ph idx="1"/>
          </p:nvPr>
        </p:nvSpPr>
        <p:spPr/>
        <p:txBody>
          <a:bodyPr/>
          <a:lstStyle/>
          <a:p>
            <a:pPr>
              <a:defRPr sz="1800"/>
            </a:pPr>
            <a:r>
              <a:t>In der Projektanfrage sollte nicht nur Querschnitt, Optik und Tragfähigkeit stehen. Auch die vorgesehene Raumnutzung, die geplante Reihenfolge von Holzmontage, Estrich, Putz und Malerarbeiten sowie die Lüftungsmöglichkeiten während der Bauzeit gehören dazu. Anforderungen an die spätere Oberflächenbehandlung sind ebenfalls wichtig, weil feuchtes Holz nicht beschichtet werden sollte. Hilfreich ist außerdem eine ausdrückliche Angabe, ob das Bauteil in einem Neubau, einer Sanierung oder einem temporär feuchten Umfeld montiert wird. So kann die Ausgleichsfeuchte mit dem geplanten Klima abgeglichen und die Konstruktionsfeuchte realistisch eingeschä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vor Bestellung und Einbau geklärt werden sollte</a:t>
            </a:r>
          </a:p>
        </p:txBody>
      </p:sp>
      <p:sp>
        <p:nvSpPr>
          <p:cNvPr id="3" name="Content Placeholder 2"/>
          <p:cNvSpPr>
            <a:spLocks noGrp="1"/>
          </p:cNvSpPr>
          <p:nvPr>
            <p:ph idx="1"/>
          </p:nvPr>
        </p:nvSpPr>
        <p:spPr/>
        <p:txBody>
          <a:bodyPr/>
          <a:lstStyle/>
          <a:p>
            <a:pPr>
              <a:defRPr sz="1800"/>
            </a:pPr>
            <a:r>
              <a:t>tzt werden. Sichtbares Holz wird damit nicht als reines Gestaltungselement, sondern als Bauteil mit eigenen Anforderungen behandelt. Der passende Beitrag „holzundhaus“ ergänzt diese fachliche Einordnung.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Einbaufeuchte bei sichtbarem Holz: Was im Neubau und nach Sanierungen oft übersehen wird</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