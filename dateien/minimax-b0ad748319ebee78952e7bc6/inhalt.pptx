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muenchen/-/blob/4ca59c38bdd83436c83b417e056314fdfb9baab7/_posts/2026-10-22-holzbalkon-bestandsgebaeude-tragwerk-anschluesse-pruefen.md" TargetMode="External"/><Relationship Id="rId3" Type="http://schemas.openxmlformats.org/officeDocument/2006/relationships/hyperlink" Target="https://holzundhaus.github.io/holzwerkmuenchen/dateien/minimax-b0ad748319ebee78952e7bc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am Bestandsgebäude: Das muss vor der Planung geprüft werden · Erklärende Präsentation</a:t>
            </a:r>
          </a:p>
        </p:txBody>
      </p:sp>
      <p:sp>
        <p:nvSpPr>
          <p:cNvPr id="3" name="Content Placeholder 2"/>
          <p:cNvSpPr>
            <a:spLocks noGrp="1"/>
          </p:cNvSpPr>
          <p:nvPr>
            <p:ph idx="1"/>
          </p:nvPr>
        </p:nvSpPr>
        <p:spPr/>
        <p:txBody>
          <a:bodyPr/>
          <a:lstStyle/>
          <a:p>
            <a:r>
              <a:t>Überblick: Ein Holzbalkon an einem Bestandsgebäude verlangt mehr als die Festlegung von Maßen, Holzarten und Belägen. Entscheidend ist, wie die neuen Lasten in die vorhandene Bausubstanz eingeleitet werden und ob Türanschluss, Auflager sowie Wandanschluss dafür geeignet sind. Die Bestandsprüfung bildet deshalb den sinnvollen ersten Schritt: Sie klärt, welche Tragwerkslösung überhaupt möglich ist, bevor detailliert geplant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Bestandsprüfung vor der Planung beginnt</a:t>
            </a:r>
          </a:p>
        </p:txBody>
      </p:sp>
      <p:sp>
        <p:nvSpPr>
          <p:cNvPr id="3" name="Content Placeholder 2"/>
          <p:cNvSpPr>
            <a:spLocks noGrp="1"/>
          </p:cNvSpPr>
          <p:nvPr>
            <p:ph idx="1"/>
          </p:nvPr>
        </p:nvSpPr>
        <p:spPr/>
        <p:txBody>
          <a:bodyPr/>
          <a:lstStyle/>
          <a:p>
            <a:pPr>
              <a:defRPr sz="1800"/>
            </a:pPr>
            <a:r>
              <a:t>Ein Balkon ist kein frei stehendes Bauteil. Sein Eigengewicht und die vorgesehene Nutzung erzeugen zusätzliche Lasten, die über Stützen oder wandgebundene Anschlüsse in das Gebäude weitergegeben werden. Ob eine eigene Stützenkonstruktion oder eine Anbindung an die Bestandswand möglich ist, hängt vom Zustand der betroffenen Bauteile ab. Deshalb sollten Tragwerk, Auflagerbereiche und Anschlüsse zuerst untersucht werden. Wer dagegen zuerst Fläche, Höhe, Holzart oder Oberfläche festlegt, plant möglicherweise auf einer noch ungeprüften Grundlage. Die einschlägige Fachregel des Informationsdienstes Holz weist bei einer Balkonsanierung ausdrücklich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Bestandsprüfung vor der Planung beginnt</a:t>
            </a:r>
          </a:p>
        </p:txBody>
      </p:sp>
      <p:sp>
        <p:nvSpPr>
          <p:cNvPr id="3" name="Content Placeholder 2"/>
          <p:cNvSpPr>
            <a:spLocks noGrp="1"/>
          </p:cNvSpPr>
          <p:nvPr>
            <p:ph idx="1"/>
          </p:nvPr>
        </p:nvSpPr>
        <p:spPr/>
        <p:txBody>
          <a:bodyPr/>
          <a:lstStyle/>
          <a:p>
            <a:pPr>
              <a:defRPr sz="1800"/>
            </a:pPr>
            <a:r>
              <a:t>darauf hin, dass Tragteile, Befestigungen und Auflager untersucht werden müssen. Ein neuer Belag allein ersetzt keine Prüfung der tragenden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Zustand der Auflager klären</a:t>
            </a:r>
          </a:p>
        </p:txBody>
      </p:sp>
      <p:sp>
        <p:nvSpPr>
          <p:cNvPr id="3" name="Content Placeholder 2"/>
          <p:cNvSpPr>
            <a:spLocks noGrp="1"/>
          </p:cNvSpPr>
          <p:nvPr>
            <p:ph idx="1"/>
          </p:nvPr>
        </p:nvSpPr>
        <p:spPr/>
        <p:txBody>
          <a:bodyPr/>
          <a:lstStyle/>
          <a:p>
            <a:pPr>
              <a:defRPr sz="1800"/>
            </a:pPr>
            <a:r>
              <a:t>Für eine belastbare Beurteilung gehören die tragenden Bereiche und ihre sichtbaren Auffälligkeiten in den Mittelpunkt. Zu prüfen ist, ob die Wand im Anschlussbereich die geplanten Lasten aufnehmen kann. Auch Stützen, Wandanschlüsse und die darunterliegenden Bauteile sollten dokumentiert werden. Werden im Inneren Holzbalkendecken sichtbar, sind Verformungen, Feuchtespuren und lose Verbindungen besonders relevante Hinweise. Solche Beobachtungen ersetzen keine fachliche Prüfung, helfen aber dabei, die erforderlichen Prüfbereiche zu erkennen. Die Bestandsprüfung liefert damit die Grundlage für eine realistische Tragwerksplanung und für die Auswah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Zustand der Auflager klären</a:t>
            </a:r>
          </a:p>
        </p:txBody>
      </p:sp>
      <p:sp>
        <p:nvSpPr>
          <p:cNvPr id="3" name="Content Placeholder 2"/>
          <p:cNvSpPr>
            <a:spLocks noGrp="1"/>
          </p:cNvSpPr>
          <p:nvPr>
            <p:ph idx="1"/>
          </p:nvPr>
        </p:nvSpPr>
        <p:spPr/>
        <p:txBody>
          <a:bodyPr/>
          <a:lstStyle/>
          <a:p>
            <a:pPr>
              <a:defRPr sz="1800"/>
            </a:pPr>
            <a:r>
              <a:t>l einer passenden Ausführung.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und unterschiedliche Bewegungen beachten</a:t>
            </a:r>
          </a:p>
        </p:txBody>
      </p:sp>
      <p:sp>
        <p:nvSpPr>
          <p:cNvPr id="3" name="Content Placeholder 2"/>
          <p:cNvSpPr>
            <a:spLocks noGrp="1"/>
          </p:cNvSpPr>
          <p:nvPr>
            <p:ph idx="1"/>
          </p:nvPr>
        </p:nvSpPr>
        <p:spPr/>
        <p:txBody>
          <a:bodyPr/>
          <a:lstStyle/>
          <a:p>
            <a:pPr>
              <a:defRPr sz="1800"/>
            </a:pPr>
            <a:r>
              <a:t>Wanddurchbrüche und Auflagerpunkte greifen in die vorhandene Bausubstanz ein. Hinzu kommt, dass sich Bestandsbauwerk und Balkon unter unterschiedlichen Bedingungen verhalten können. In der Planung müssen daher sowohl die Lastabtragung am Wandanschluss als auch mögliche unterschiedliche Setzungen berücksichtigt werden. Auch Zuständigkeiten und Übergänge zwischen Deckenrand, Balkon und Attika sollten früh geklärt werden. Unklare Anschlüsse sind nicht nur ein konstruktives Detail: Sie können die Funktion des Balkons und die Beanspruchung der angrenzenden Bauteile beeinflussen. Je nach Ausgangslage ist deshalb eine eigene Stützenlösung, eine 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und unterschiedliche Bewegungen beachten</a:t>
            </a:r>
          </a:p>
        </p:txBody>
      </p:sp>
      <p:sp>
        <p:nvSpPr>
          <p:cNvPr id="3" name="Content Placeholder 2"/>
          <p:cNvSpPr>
            <a:spLocks noGrp="1"/>
          </p:cNvSpPr>
          <p:nvPr>
            <p:ph idx="1"/>
          </p:nvPr>
        </p:nvSpPr>
        <p:spPr/>
        <p:txBody>
          <a:bodyPr/>
          <a:lstStyle/>
          <a:p>
            <a:pPr>
              <a:defRPr sz="1800"/>
            </a:pPr>
            <a:r>
              <a:t>passte Wandverbindung oder eine weitere konstruktive Variante zu prüfen. Die konkrete Entscheidung kann erst nach der Bestandsaufnahme getroffen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Kontrollierbarkeit mitdenken</a:t>
            </a:r>
          </a:p>
        </p:txBody>
      </p:sp>
      <p:sp>
        <p:nvSpPr>
          <p:cNvPr id="3" name="Content Placeholder 2"/>
          <p:cNvSpPr>
            <a:spLocks noGrp="1"/>
          </p:cNvSpPr>
          <p:nvPr>
            <p:ph idx="1"/>
          </p:nvPr>
        </p:nvSpPr>
        <p:spPr/>
        <p:txBody>
          <a:bodyPr/>
          <a:lstStyle/>
          <a:p>
            <a:pPr>
              <a:defRPr sz="1800"/>
            </a:pPr>
            <a:r>
              <a:t>Belag, Unterkonstruktion und Anschlüsse sind beim Balkon der Witterung ausgesetzt. Die Entwässerung muss so geplant werden, dass Feuchtigkeit nicht an ungeeigneten Stellen stehen bleibt oder in empfindliche Bauteile gelangt. Eine Oberflächenbehandlung allein genügt dafür nicht, weil sie die konstruktiven Anforderungen an Aufbau, Gefälle und Anschlüsse nicht ersetzt. Ebenso wichtig ist die spätere Kontrollierbarkeit: Entscheidende Bauteile und Verbindungen sollten so ausgeführt und zugänglich bleiben, dass Beschädigungen erkannt und instand gehalten werden können. Diese Aspekte gehören bereits in die frühe Planung, nicht erst in die Ausführung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Kontrollierbarkeit mitdenken</a:t>
            </a:r>
          </a:p>
        </p:txBody>
      </p:sp>
      <p:sp>
        <p:nvSpPr>
          <p:cNvPr id="3" name="Content Placeholder 2"/>
          <p:cNvSpPr>
            <a:spLocks noGrp="1"/>
          </p:cNvSpPr>
          <p:nvPr>
            <p:ph idx="1"/>
          </p:nvPr>
        </p:nvSpPr>
        <p:spPr/>
        <p:txBody>
          <a:bodyPr/>
          <a:lstStyle/>
          <a:p>
            <a:pPr>
              <a:defRPr sz="1800"/>
            </a:pPr>
            <a:r>
              <a:t>sphase.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Anfrage vorbereiten</a:t>
            </a:r>
          </a:p>
        </p:txBody>
      </p:sp>
      <p:sp>
        <p:nvSpPr>
          <p:cNvPr id="3" name="Content Placeholder 2"/>
          <p:cNvSpPr>
            <a:spLocks noGrp="1"/>
          </p:cNvSpPr>
          <p:nvPr>
            <p:ph idx="1"/>
          </p:nvPr>
        </p:nvSpPr>
        <p:spPr/>
        <p:txBody>
          <a:bodyPr/>
          <a:lstStyle/>
          <a:p>
            <a:pPr>
              <a:defRPr sz="1800"/>
            </a:pPr>
            <a:r>
              <a:t>Vor dem Kontakt eines Holzbau-Fachbetriebs lässt sich die Bestandsprüfung strukturiert vorbereiten. Hilfreich sind die gewünschte Fläche und Höhe, Ansichten des Balkons und eine Darstellung des Türanschlusses. Bekannte Schäden sowie erkennbare Verformungen, Feuchtespuren oder lose Verbindungen sollten ergänzt werden. Fotos können sichtbare Zustände dokumentieren, ersetzen aber keine objektive Bewertung der Tragfähigkeit. Für eine gezielte Bestandsprüfung und anschließende fachliche Einschätzung dieser Angaben bietet der Beitrag „Holzbalkon am Bestandsgebäude“ eine übersichtliche Orientierung. Eine vollständige Ausführungsplanung ist für die 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Anfrage vorbereiten</a:t>
            </a:r>
          </a:p>
        </p:txBody>
      </p:sp>
      <p:sp>
        <p:nvSpPr>
          <p:cNvPr id="3" name="Content Placeholder 2"/>
          <p:cNvSpPr>
            <a:spLocks noGrp="1"/>
          </p:cNvSpPr>
          <p:nvPr>
            <p:ph idx="1"/>
          </p:nvPr>
        </p:nvSpPr>
        <p:spPr/>
        <p:txBody>
          <a:bodyPr/>
          <a:lstStyle/>
          <a:p>
            <a:pPr>
              <a:defRPr sz="1800"/>
            </a:pPr>
            <a:r>
              <a:t>rste Anfrage nicht erforderlich. Die gesammelten Informationen ermöglichen es jedoch, offene Punkte früh zu erkennen und die nächsten Planungsschritte gezielter anzugehen.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am Bestandsgebäude: Das muss vor der Planung geprüft werden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