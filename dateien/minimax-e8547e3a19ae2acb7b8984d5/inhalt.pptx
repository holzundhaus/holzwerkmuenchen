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muenchen/anschlagposition-bruestung-bestandsfenster-holzfassade/" TargetMode="External"/><Relationship Id="rId3" Type="http://schemas.openxmlformats.org/officeDocument/2006/relationships/hyperlink" Target="https://holzundhaus.github.io/holzwerkmuenchen/dateien/minimax-e8547e3a19ae2acb7b8984d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Anschlagposition und Brüstung am Bestandsfenster bei nachträglicher Holzfassade · Erklärende Präsentation</a:t>
            </a:r>
          </a:p>
        </p:txBody>
      </p:sp>
      <p:sp>
        <p:nvSpPr>
          <p:cNvPr id="3" name="Content Placeholder 2"/>
          <p:cNvSpPr>
            <a:spLocks noGrp="1"/>
          </p:cNvSpPr>
          <p:nvPr>
            <p:ph idx="1"/>
          </p:nvPr>
        </p:nvSpPr>
        <p:spPr/>
        <p:txBody>
          <a:bodyPr/>
          <a:lstStyle/>
          <a:p>
            <a:r>
              <a:t>Überblick: Bei einer nachträglichen Holzfassade wird das vorhandene Fenster rückwärtig in der Laibung liegen. Für die Anschlussplanung ist deshalb entscheidend, ob nur die Fassade erneuert wird oder ob Fenster, Dämmung und Fassadenaufbau gemeinsam verändert werden. Der folgende Leitfaden hilft bei der Einordnung der Anschlagposition, der Brüstung und der erforderlichen Bestandsaufnahme.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Sanierungsfall eindeutig klären</a:t>
            </a:r>
          </a:p>
        </p:txBody>
      </p:sp>
      <p:sp>
        <p:nvSpPr>
          <p:cNvPr id="3" name="Content Placeholder 2"/>
          <p:cNvSpPr>
            <a:spLocks noGrp="1"/>
          </p:cNvSpPr>
          <p:nvPr>
            <p:ph idx="1"/>
          </p:nvPr>
        </p:nvSpPr>
        <p:spPr/>
        <p:txBody>
          <a:bodyPr/>
          <a:lstStyle/>
          <a:p>
            <a:pPr>
              <a:defRPr sz="1800"/>
            </a:pPr>
            <a:r>
              <a:t>Die Reihenfolge der Arbeiten verändert die Planungsgrundlagen. Bei einer reinen Fassadenerneuerung bleibt das Bestandsfenster maßgeblich. Die neue Bekleidung muss sich an Rahmenformat, Einbaulage und vorhandene Laibung anpassen. Werden Fenster und Fassade gleichzeitig erneuert, verschiebt sich die Wandebene durch die zusätzliche Dämmung weiter nach außen; Anschluss und Brüstung können dann gemeinsam mit dem neuen Fenster festgelegt werden. Eine dritte Variante ist die schrittweise Sanierung: Die Fassade wird jetzt ausgeführt, das Fenster folgt später. In diesem Fall sollte die Anschlusslösung einen späteren Austausch möglichst ohne größeren 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Sanierungsfall eindeutig klären</a:t>
            </a:r>
          </a:p>
        </p:txBody>
      </p:sp>
      <p:sp>
        <p:nvSpPr>
          <p:cNvPr id="3" name="Content Placeholder 2"/>
          <p:cNvSpPr>
            <a:spLocks noGrp="1"/>
          </p:cNvSpPr>
          <p:nvPr>
            <p:ph idx="1"/>
          </p:nvPr>
        </p:nvSpPr>
        <p:spPr/>
        <p:txBody>
          <a:bodyPr/>
          <a:lstStyle/>
          <a:p>
            <a:pPr>
              <a:defRPr sz="1800"/>
            </a:pPr>
            <a:r>
              <a:t>ückbau vorsehen.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Anschlagposition am Blendrahmen</a:t>
            </a:r>
          </a:p>
        </p:txBody>
      </p:sp>
      <p:sp>
        <p:nvSpPr>
          <p:cNvPr id="3" name="Content Placeholder 2"/>
          <p:cNvSpPr>
            <a:spLocks noGrp="1"/>
          </p:cNvSpPr>
          <p:nvPr>
            <p:ph idx="1"/>
          </p:nvPr>
        </p:nvSpPr>
        <p:spPr/>
        <p:txBody>
          <a:bodyPr/>
          <a:lstStyle/>
          <a:p>
            <a:pPr>
              <a:defRPr sz="1800"/>
            </a:pPr>
            <a:r>
              <a:t>Der Anschlag bestimmt, wo die Holzbekleidung am Blendrahmen endet. Beim tieferen Anschlag endet die Bekleidung mit Abstand zum Rahmen; ein eigenes Brett oder Blech schließt die Laibung. Das bietet mehr Toleranz bei unebenen Bestandsflächen. Der bündige Anschlag trifft direkt auf den Rahmen und wirkt durch eine schmale Schattenfuge optisch ruhig, setzt jedoch einen sauberen Rahmen und eine passende Winkligkeit voraus. Beim überdeckten Anschlag überdeckt ein Laibungsprofil den Rahmen. Dadurch lassen sich kleinere Maßtoleranzen ausgleichen, ein späterer Fensterwechsel wird aber aufwendiger. Welche Variante sinnvoll ist, hängt vom Zustand und von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Anschlagposition am Blendrahmen</a:t>
            </a:r>
          </a:p>
        </p:txBody>
      </p:sp>
      <p:sp>
        <p:nvSpPr>
          <p:cNvPr id="3" name="Content Placeholder 2"/>
          <p:cNvSpPr>
            <a:spLocks noGrp="1"/>
          </p:cNvSpPr>
          <p:nvPr>
            <p:ph idx="1"/>
          </p:nvPr>
        </p:nvSpPr>
        <p:spPr/>
        <p:txBody>
          <a:bodyPr/>
          <a:lstStyle/>
          <a:p>
            <a:pPr>
              <a:defRPr sz="1800"/>
            </a:pPr>
            <a:r>
              <a:t> der genauen Lage des Bestandsfensters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Brüstung als besonders wichtiger Wasserablauf</a:t>
            </a:r>
          </a:p>
        </p:txBody>
      </p:sp>
      <p:sp>
        <p:nvSpPr>
          <p:cNvPr id="3" name="Content Placeholder 2"/>
          <p:cNvSpPr>
            <a:spLocks noGrp="1"/>
          </p:cNvSpPr>
          <p:nvPr>
            <p:ph idx="1"/>
          </p:nvPr>
        </p:nvSpPr>
        <p:spPr/>
        <p:txBody>
          <a:bodyPr/>
          <a:lstStyle/>
          <a:p>
            <a:pPr>
              <a:defRPr sz="1800"/>
            </a:pPr>
            <a:r>
              <a:t>Unter dem Fenster treffen Schlagregen, Spritzwasser und Schnee auf eine besonders beanspruchte Zone. Eine Fensterbank mit Gefälle und seitlicher Aufkantung führt Wasser nach außen ab und vermindert die Bildung eines Kapillartals hinter dem Holz. Eine Holzbrüstung ohne zusätzliche Abdeckung ist nur sinnvoll, wenn Überstand und Tropfkante das Wasser zuverlässig vom Holz wegführen. Eine bestehende Putz- oder Mauerwerksbrüstung kann erhalten bleiben, während das Holz mit einem eigenen Abschlussprofil davor endet. Vor der Festlegung sollte deshalb geklärt werden, ob heute bereits Wasser in die Laibung läuft oder sichtbare Feuchtespuren vorhanden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Brüstung als besonders wichtiger Wasserablauf</a:t>
            </a:r>
          </a:p>
        </p:txBody>
      </p:sp>
      <p:sp>
        <p:nvSpPr>
          <p:cNvPr id="3" name="Content Placeholder 2"/>
          <p:cNvSpPr>
            <a:spLocks noGrp="1"/>
          </p:cNvSpPr>
          <p:nvPr>
            <p:ph idx="1"/>
          </p:nvPr>
        </p:nvSpPr>
        <p:spPr/>
        <p:txBody>
          <a:bodyPr/>
          <a:lstStyle/>
          <a:p>
            <a:pPr>
              <a:defRPr sz="1800"/>
            </a:pPr>
            <a:r>
              <a:t>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Bestandsaufnahme dokumentiert werden sollte</a:t>
            </a:r>
          </a:p>
        </p:txBody>
      </p:sp>
      <p:sp>
        <p:nvSpPr>
          <p:cNvPr id="3" name="Content Placeholder 2"/>
          <p:cNvSpPr>
            <a:spLocks noGrp="1"/>
          </p:cNvSpPr>
          <p:nvPr>
            <p:ph idx="1"/>
          </p:nvPr>
        </p:nvSpPr>
        <p:spPr/>
        <p:txBody>
          <a:bodyPr/>
          <a:lstStyle/>
          <a:p>
            <a:pPr>
              <a:defRPr sz="1800"/>
            </a:pPr>
            <a:r>
              <a:t>Für eine belastbare Anfrage werden Ansichten und die betroffene Fassadenfläche, der vorhandene Wandaufbau, die gewünschte Oberfläche sowie geplante Dämmmaßnahmen benötigt. Zusätzlich sind die vorhandene Brüstungshöhe, der Zustand von Blendrahmen, Sturz und Laibung sowie bestehende Anschlüsse wie Simsen, Rollläden oder Fensterbänke zu berücksichtigen. Hilfreich ist außerdem eine Feststellung zur Maßhaltigkeit und möglichen Verformung des Rahmens. Diese Angaben zeigen, wie weit sich die neue Bekleidung vor das Bestandsfenster schiebt und welcher Anschlag technisch noch möglich ist. Weitere Grundlagen zum Aufbau hinterlüfteter Holzbekleidungen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Bestandsaufnahme dokumentiert werden sollte</a:t>
            </a:r>
          </a:p>
        </p:txBody>
      </p:sp>
      <p:sp>
        <p:nvSpPr>
          <p:cNvPr id="3" name="Content Placeholder 2"/>
          <p:cNvSpPr>
            <a:spLocks noGrp="1"/>
          </p:cNvSpPr>
          <p:nvPr>
            <p:ph idx="1"/>
          </p:nvPr>
        </p:nvSpPr>
        <p:spPr/>
        <p:txBody>
          <a:bodyPr/>
          <a:lstStyle/>
          <a:p>
            <a:pPr>
              <a:defRPr sz="1800"/>
            </a:pPr>
            <a:r>
              <a:t>nd zu Anschlüssen im Bestand bietet die Übersicht „Holzfassaden im Überblick“.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Anschlagposition und Brüstung am Bestandsfenster bei nachträglicher Holzfassade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