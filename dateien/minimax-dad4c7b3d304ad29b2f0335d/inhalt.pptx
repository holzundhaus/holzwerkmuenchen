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holzwerkmuenchen/-/blob/10419156b3bb95d990f56895851a79d2ebf7f79f/_posts/2026-10-18-energetische-sanierung-holzbalkendecken-schichten-kombinieren.md" TargetMode="External"/><Relationship Id="rId3" Type="http://schemas.openxmlformats.org/officeDocument/2006/relationships/hyperlink" Target="https://holzundhaus.github.io/holzwerkmuenchen/dateien/minimax-dad4c7b3d304ad29b2f0335d/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Energetische Sanierung von Holzbalkendecken: Schichten sinnvoll kombinieren · Erklärende Präsentation</a:t>
            </a:r>
          </a:p>
        </p:txBody>
      </p:sp>
      <p:sp>
        <p:nvSpPr>
          <p:cNvPr id="3" name="Content Placeholder 2"/>
          <p:cNvSpPr>
            <a:spLocks noGrp="1"/>
          </p:cNvSpPr>
          <p:nvPr>
            <p:ph idx="1"/>
          </p:nvPr>
        </p:nvSpPr>
        <p:spPr/>
        <p:txBody>
          <a:bodyPr/>
          <a:lstStyle/>
          <a:p>
            <a:r>
              <a:t>Überblick: Holzbalkendecken gehören zu den charakteristischen Bauteilen älterer Gebäude. Ihre energetische Sanierung verlangt mehr als das bloße Einbringen von Dämmstoff. Wer die einzelnen Schichten aufeinander abstimmt, kann Wärmeverluste reduzieren, den Schallschutz verbessern und unkontrollierte Luftströmungen vermeiden.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Drei Ziele, eine Planung</a:t>
            </a:r>
          </a:p>
        </p:txBody>
      </p:sp>
      <p:sp>
        <p:nvSpPr>
          <p:cNvPr id="3" name="Content Placeholder 2"/>
          <p:cNvSpPr>
            <a:spLocks noGrp="1"/>
          </p:cNvSpPr>
          <p:nvPr>
            <p:ph idx="1"/>
          </p:nvPr>
        </p:nvSpPr>
        <p:spPr/>
        <p:txBody>
          <a:bodyPr/>
          <a:lstStyle/>
          <a:p>
            <a:pPr>
              <a:defRPr sz="1800"/>
            </a:pPr>
            <a:r>
              <a:t>Bei der Sanierung einer Holzbalkendecke stehen fast immer drei Anforderungen gleichzeitig im Raum: Wärmedämmung, Schallschutz und Luftdichtheit. Diese Ziele beeinflussen sich gegenseitig. Eine hohe Dämmleistung bringt wenig, wenn warme Raumluft durch Fugen an kalte Bauteilbereiche strömt. Ebenso funktioniert ein verbesserter Schallschutz nur, wenn die neuen Schichten luftdicht an angrenzende Bauteile anschließen. Deshalb empfiehlt sich von Beginn an eine systematische Planung, die alle drei Aspekte gemeinsam betrachtet.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Typische Schichtenfolgen von oben</a:t>
            </a:r>
          </a:p>
        </p:txBody>
      </p:sp>
      <p:sp>
        <p:nvSpPr>
          <p:cNvPr id="3" name="Content Placeholder 2"/>
          <p:cNvSpPr>
            <a:spLocks noGrp="1"/>
          </p:cNvSpPr>
          <p:nvPr>
            <p:ph idx="1"/>
          </p:nvPr>
        </p:nvSpPr>
        <p:spPr/>
        <p:txBody>
          <a:bodyPr/>
          <a:lstStyle/>
          <a:p>
            <a:pPr>
              <a:defRPr sz="1800"/>
            </a:pPr>
            <a:r>
              <a:t>Der am häufigsten gewählte Einbauweg führt von oben. Er bietet sich an, wenn ohnehin ein neuer Bodenbelag verlegt wird. Üblich ist folgende Reihenfolge: ein tragfähiger Belag wie Estrich, Dielen oder Plattform, darunter eine Trittschalldämmung zur Entkopplung, dann eine Dämmstofflage zwischen den Balken oder auf einer Schalung. Zellulose, Holzfaser oder Mineralwolle kommen hier häufig zum Einsatz. Raumseitig schließt eine durchgängige Luftdichtheitsebene an, die an Wände und angrenzende Deckenbereiche sorgfältig angeschlossen wird. Der vorhandene Holzbalkenrost mit seiner Füllung bildet den Bestand, dessen Zustand vor dem Einbau dokumentiert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Typische Schichtenfolgen von oben</a:t>
            </a:r>
          </a:p>
        </p:txBody>
      </p:sp>
      <p:sp>
        <p:nvSpPr>
          <p:cNvPr id="3" name="Content Placeholder 2"/>
          <p:cNvSpPr>
            <a:spLocks noGrp="1"/>
          </p:cNvSpPr>
          <p:nvPr>
            <p:ph idx="1"/>
          </p:nvPr>
        </p:nvSpPr>
        <p:spPr/>
        <p:txBody>
          <a:bodyPr/>
          <a:lstStyle/>
          <a:p>
            <a:pPr>
              <a:defRPr sz="1800"/>
            </a:pPr>
            <a:r>
              <a:t>sein sollte.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Ergänzender Einbau von unten</a:t>
            </a:r>
          </a:p>
        </p:txBody>
      </p:sp>
      <p:sp>
        <p:nvSpPr>
          <p:cNvPr id="3" name="Content Placeholder 2"/>
          <p:cNvSpPr>
            <a:spLocks noGrp="1"/>
          </p:cNvSpPr>
          <p:nvPr>
            <p:ph idx="1"/>
          </p:nvPr>
        </p:nvSpPr>
        <p:spPr/>
        <p:txBody>
          <a:bodyPr/>
          <a:lstStyle/>
          <a:p>
            <a:pPr>
              <a:defRPr sz="1800"/>
            </a:pPr>
            <a:r>
              <a:t>Ist der Raum unter der Decke bewohnt und bleibt der Bodenbelag erhalten, kann eine abgehängte Decke oder eine Vorsatzschale die Dämmung aufnehmen. Auch hier ist eine lückenlose Luftdichtheitsebene an den Stirnseiten und Wandanschlüssen nötig. Entscheidend ist die Schallentkopplung der neuen Ebene vom Balkenrost, um Körperschallübertragung zu minimieren.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die Reihenfolge der Schichten entscheidend ist</a:t>
            </a:r>
          </a:p>
        </p:txBody>
      </p:sp>
      <p:sp>
        <p:nvSpPr>
          <p:cNvPr id="3" name="Content Placeholder 2"/>
          <p:cNvSpPr>
            <a:spLocks noGrp="1"/>
          </p:cNvSpPr>
          <p:nvPr>
            <p:ph idx="1"/>
          </p:nvPr>
        </p:nvSpPr>
        <p:spPr/>
        <p:txBody>
          <a:bodyPr/>
          <a:lstStyle/>
          <a:p>
            <a:pPr>
              <a:defRPr sz="1800"/>
            </a:pPr>
            <a:r>
              <a:t>Die Luftdichtheitsebene sollte stets vor der Dämmung in ihrer endgültigen Position eingebaut werden. Wird erst gedämmt und die Dichtung erst danach ergänzt, entstehen leicht Hohlräume und Verdichtungen, die den Dämmwert lokal verringern und gleichzeitig Feuchtigkeitspfade öffnen. Besonderes Augenmerk verdienen die Anschlüsse an Massivwände, da die Holzbalkendecke selten bündig endet. Leitungsschächte und Durchdringungen für Kabel oder Rohre unterbrechen jede Ebene und müssen umlaufend sorgfältig abgedichtet werden. Auch die Stirnseiten der Balken sollten nicht von luftdichten Schichten eingeschlossen werden, da Restfeuchte aus dem Holz ableit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die Reihenfolge der Schichten entscheidend ist</a:t>
            </a:r>
          </a:p>
        </p:txBody>
      </p:sp>
      <p:sp>
        <p:nvSpPr>
          <p:cNvPr id="3" name="Content Placeholder 2"/>
          <p:cNvSpPr>
            <a:spLocks noGrp="1"/>
          </p:cNvSpPr>
          <p:nvPr>
            <p:ph idx="1"/>
          </p:nvPr>
        </p:nvSpPr>
        <p:spPr/>
        <p:txBody>
          <a:bodyPr/>
          <a:lstStyle/>
          <a:p>
            <a:pPr>
              <a:defRPr sz="1800"/>
            </a:pPr>
            <a:r>
              <a:t>en können muss.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Bestand prüfen, bevor Maßnahmen festgelegt werden</a:t>
            </a:r>
          </a:p>
        </p:txBody>
      </p:sp>
      <p:sp>
        <p:nvSpPr>
          <p:cNvPr id="3" name="Content Placeholder 2"/>
          <p:cNvSpPr>
            <a:spLocks noGrp="1"/>
          </p:cNvSpPr>
          <p:nvPr>
            <p:ph idx="1"/>
          </p:nvPr>
        </p:nvSpPr>
        <p:spPr/>
        <p:txBody>
          <a:bodyPr/>
          <a:lstStyle/>
          <a:p>
            <a:pPr>
              <a:defRPr sz="1800"/>
            </a:pPr>
            <a:r>
              <a:t>Für eine zuverlässige Planung sind Kenntnisse über den vorhandenen Aufbau unerlässlich. Voruntersuchungen klären, welche Füllung sich zwischen den Balken befindet, wie der Zustand der Balkenköpfe ist und ob es Spuren von Feuchtigkeit oder Schädlingsbefall gibt. Solche Informationen lassen sich durch Bauteilöffnungen oder endoskopische Einsicht gewinnen. Erst wenn der Bestand bekannt ist, können Dämmstoffart, Schichtdicke und Anschlussdetails sinnvoll festgelegt werden. Ohne diese Grundlage drohen Maßnahmen, die nachträglich korrigiert werden müssen.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Energetische Sanierung von Holzbalkendecken: Schichten sinnvoll kombinieren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