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tumblr.com/post/830894914756820992/holzfassade-bestandsmauerwerk-direktmontage-hinterlueftu" TargetMode="External"/><Relationship Id="rId3" Type="http://schemas.openxmlformats.org/officeDocument/2006/relationships/hyperlink" Target="https://holzundhaus.github.io/holzwerkmuenchen/dateien/minimax-58e122564dc19f876b6ab04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auf Bestandsmauerwerk: Direktmontage und Hinterlüftung ohne neue Dämmung · Erklärende Präsentation</a:t>
            </a:r>
          </a:p>
        </p:txBody>
      </p:sp>
      <p:sp>
        <p:nvSpPr>
          <p:cNvPr id="3" name="Content Placeholder 2"/>
          <p:cNvSpPr>
            <a:spLocks noGrp="1"/>
          </p:cNvSpPr>
          <p:nvPr>
            <p:ph idx="1"/>
          </p:nvPr>
        </p:nvSpPr>
        <p:spPr/>
        <p:txBody>
          <a:bodyPr/>
          <a:lstStyle/>
          <a:p>
            <a:r>
              <a:t>Überblick: Eine Holzbekleidung auf bestehendem Mauerwerk kann eine sinnvolle Entscheidung sein, wenn das Ziel eine gestalterische Veränderung oder das Überdecken schadhafter Putzflächen ist, ohne gleich eine vollständige energetische Sanierung anzustoßen. Doch auch ohne neue Dämmebene stellt sich die Frage nach der richtigen Konstruktion: Direktmontage oder hinterlüftete Fassade? Diese Entscheidung beeinflusst die Haltbarkeit und den Feuchteschutz dauerhaft.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Holzbekleidung ohne Dämmung infrage kommt</a:t>
            </a:r>
          </a:p>
        </p:txBody>
      </p:sp>
      <p:sp>
        <p:nvSpPr>
          <p:cNvPr id="3" name="Content Placeholder 2"/>
          <p:cNvSpPr>
            <a:spLocks noGrp="1"/>
          </p:cNvSpPr>
          <p:nvPr>
            <p:ph idx="1"/>
          </p:nvPr>
        </p:nvSpPr>
        <p:spPr/>
        <p:txBody>
          <a:bodyPr/>
          <a:lstStyle/>
          <a:p>
            <a:pPr>
              <a:defRPr sz="1800"/>
            </a:pPr>
            <a:r>
              <a:t>Wenn die Fassade lediglich optisch aufgewertet werden soll oder einzelne schadhafte Bereiche überdeckt werden müssen, ist nicht zwingend eine zusätzliche Wärmedämmung erforderlich. In diesen Fällen übernimmt die Holzbekleidung allein die Funktion des Witterungsschutzes und der Gestaltung. Der bestehende Wandaufbau bleibt bauphysikalisch unverändert. Das kann bei zeitlich begrenzten Maßnahmen, bei denkmalgeschützten Fassaden oder bei Mietobjekten sinnvoll sein, bei denen der Eigentümer keine umfassende Sanierung plant. Entscheidend ist, dass der Bauherr die reduzierte energetische Qualität bewusst in Kauf nimmt und keine Verbesserung des Wärme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Holzbekleidung ohne Dämmung infrage kommt</a:t>
            </a:r>
          </a:p>
        </p:txBody>
      </p:sp>
      <p:sp>
        <p:nvSpPr>
          <p:cNvPr id="3" name="Content Placeholder 2"/>
          <p:cNvSpPr>
            <a:spLocks noGrp="1"/>
          </p:cNvSpPr>
          <p:nvPr>
            <p:ph idx="1"/>
          </p:nvPr>
        </p:nvSpPr>
        <p:spPr/>
        <p:txBody>
          <a:bodyPr/>
          <a:lstStyle/>
          <a:p>
            <a:pPr>
              <a:defRPr sz="1800"/>
            </a:pPr>
            <a:r>
              <a:t>schutzes erwartet.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Wahl zwischen Direktmontage und Unterkonstruktion</a:t>
            </a:r>
          </a:p>
        </p:txBody>
      </p:sp>
      <p:sp>
        <p:nvSpPr>
          <p:cNvPr id="3" name="Content Placeholder 2"/>
          <p:cNvSpPr>
            <a:spLocks noGrp="1"/>
          </p:cNvSpPr>
          <p:nvPr>
            <p:ph idx="1"/>
          </p:nvPr>
        </p:nvSpPr>
        <p:spPr/>
        <p:txBody>
          <a:bodyPr/>
          <a:lstStyle/>
          <a:p>
            <a:pPr>
              <a:defRPr sz="1800"/>
            </a:pPr>
            <a:r>
              <a:t>Bei kleineren Flächen oder dekorativen Elementen kann eine Direktmontage ausreichen, bei der Latten direkt mit Dübeln und Schrauben im Mauerwerk verankert werden. Voraussetzung ist ein tragfähiger Untergrund und kein nennenswerter Abstand zur Wand. Sobald die Holzbekleidung jedoch dauerhaft als Außenwandbekleidung dienen soll, ist eine vorgesetzte, hinterlüftete Konstruktion die bessere Wahl. Dabei wird eine senkrechte Grundlattung mit Abstand vor das Mauerwerk montiert, an der die Bekleidungslattung mit den sichtbaren Brettern befestigt wird. Dieser Luftspalt ist entscheidend für die dauerhafte Funktion.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Das zentrale Prinzip am Bestand</a:t>
            </a:r>
          </a:p>
        </p:txBody>
      </p:sp>
      <p:sp>
        <p:nvSpPr>
          <p:cNvPr id="3" name="Content Placeholder 2"/>
          <p:cNvSpPr>
            <a:spLocks noGrp="1"/>
          </p:cNvSpPr>
          <p:nvPr>
            <p:ph idx="1"/>
          </p:nvPr>
        </p:nvSpPr>
        <p:spPr/>
        <p:txBody>
          <a:bodyPr/>
          <a:lstStyle/>
          <a:p>
            <a:pPr>
              <a:defRPr sz="1800"/>
            </a:pPr>
            <a:r>
              <a:t>Auch ohne neue Dämmebene kann Feuchtigkeit zwischen Mauerwerk und Bekleidung auftreten. Das bestehende Mauerwerk gibt in bestimmten Jahreszeiten Feuchtigkeit nach außen ab, und Schlagregen kann hinter die Bekleidung gelangen. Der definierte Luftspalt sorgt dafür, dass diese Feuchte kontrolliert abgeführt wird. Die untere Bekleidungskante muss ausreichend Abstand zum Spritzwasserbereich haben und offene Lüftungsquerschnitte aufweisen. Die obere Kante benötigt einen durchgehenden Luftaustritt ohne luftdichte Abdeckung. Geschlossene oder offene Fugen zwischen den Brettern beeinflussen dabei die Luftzirkulation unterschiedlich.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Sockel, Fenster und Dachrand planen</a:t>
            </a:r>
          </a:p>
        </p:txBody>
      </p:sp>
      <p:sp>
        <p:nvSpPr>
          <p:cNvPr id="3" name="Content Placeholder 2"/>
          <p:cNvSpPr>
            <a:spLocks noGrp="1"/>
          </p:cNvSpPr>
          <p:nvPr>
            <p:ph idx="1"/>
          </p:nvPr>
        </p:nvSpPr>
        <p:spPr/>
        <p:txBody>
          <a:bodyPr/>
          <a:lstStyle/>
          <a:p>
            <a:pPr>
              <a:defRPr sz="1800"/>
            </a:pPr>
            <a:r>
              <a:t>Der Sockelbereich ist besonders beansprucht, da hier Spritzwasser auftritt. Die Holzbekleidung sollte mit deutlichem Abstand zum Erdreich enden, und die untere Lüftungsöffnung darf nicht durch Erdreich, Belag oder Bewuchs verschlossen werden. Ein Kiesbett oder ein hoher Sockelputz schützt den unteren Abschluss. An Fenstern verändert eine vorgesetzte Bekleidung die Laibungstiefe optisch, ohne die Anschlagposition des Rahmens zu verändern. Die Laibung muss daher mit eigenen Brettern ausgebildet werden. Tropfkanten und wasserableitende Profile gehören in die Detailplanung. Der obere Abschluss am Dachrand muss den Luftspalt offen halten und gleic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Sockel, Fenster und Dachrand planen</a:t>
            </a:r>
          </a:p>
        </p:txBody>
      </p:sp>
      <p:sp>
        <p:nvSpPr>
          <p:cNvPr id="3" name="Content Placeholder 2"/>
          <p:cNvSpPr>
            <a:spLocks noGrp="1"/>
          </p:cNvSpPr>
          <p:nvPr>
            <p:ph idx="1"/>
          </p:nvPr>
        </p:nvSpPr>
        <p:spPr/>
        <p:txBody>
          <a:bodyPr/>
          <a:lstStyle/>
          <a:p>
            <a:pPr>
              <a:defRPr sz="1800"/>
            </a:pPr>
            <a:r>
              <a:t>hzeitig verhindern, dass Vögel in den Belüftungsraum gelangen.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Oberfläche und Pflegeaufwand</a:t>
            </a:r>
          </a:p>
        </p:txBody>
      </p:sp>
      <p:sp>
        <p:nvSpPr>
          <p:cNvPr id="3" name="Content Placeholder 2"/>
          <p:cNvSpPr>
            <a:spLocks noGrp="1"/>
          </p:cNvSpPr>
          <p:nvPr>
            <p:ph idx="1"/>
          </p:nvPr>
        </p:nvSpPr>
        <p:spPr/>
        <p:txBody>
          <a:bodyPr/>
          <a:lstStyle/>
          <a:p>
            <a:pPr>
              <a:defRPr sz="1800"/>
            </a:pPr>
            <a:r>
              <a:t>Die bewitterte Außenseite der Bretter ist direkter Sonneneinstrahlung und dem Wechsel aus Feuchte und Trockenheit ausgesetzt. Die Wahl der Holzart, die Schnittführung und eine mögliche Oberflächenbehandlung beeinflussen, wie gleichmäßig das Holz arbeitet und wie schnell es vergraut. Die Pflege beschränkt sich auf wenige regelmäßige Schritte: Sichtkontrolle auf lose Bretter oder Verformungen, Freihalten der Lüftungsöffnungen und Reinigen der Tropfkanten. Eine durchdachte Planung der Anschlüsse und der Untergrundprüfung vor Montagebeginn sind dabei die wichtigsten Voraussetzungen für eine dauerhafte Konstruktion.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auf Bestandsmauerwerk: Direktmontage und Hinterlüftung ohne neue Dämmung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